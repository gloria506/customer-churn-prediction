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NEXAFRICA MACHINE LEARNING INTERNSHIP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504440"/>
            <a:ext cx="10883392" cy="14655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5400" b="1" dirty="0">
                <a:solidFill>
                  <a:srgbClr val="F5F5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Churn</a:t>
            </a:r>
            <a:endParaRPr lang="en-US" sz="5400" dirty="0"/>
          </a:p>
          <a:p>
            <a:pPr marL="0" indent="0" algn="l">
              <a:lnSpc>
                <a:spcPts val="5670"/>
              </a:lnSpc>
              <a:buNone/>
            </a:pPr>
            <a:r>
              <a:rPr lang="en-US" sz="5400" b="1" dirty="0">
                <a:solidFill>
                  <a:srgbClr val="F5F5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12800" y="4097020"/>
            <a:ext cx="10883392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C9C9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Project Presentation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83184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Prepared by GLORIA BOATENG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Business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10883392" cy="878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churn, a subscriber leaving for a competitor, cancelling, or going inactive, directly erodes telecom revenue. Retaining an existing customer is far cheaper than acquiring a new one. This project predicts churn before it happens.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781935"/>
            <a:ext cx="5175250" cy="1644650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680" y="3088640"/>
            <a:ext cx="4698695" cy="756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73.46%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22680" y="3870960"/>
            <a:ext cx="469869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Customers retained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781935"/>
            <a:ext cx="5175250" cy="1644650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480" y="3088640"/>
            <a:ext cx="4698695" cy="756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26.54%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507480" y="3870960"/>
            <a:ext cx="469869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Customers churned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1"/>
            <a:ext cx="2203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Dataset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822960" y="1630680"/>
          <a:ext cx="8879840" cy="2997200"/>
        </p:xfrm>
        <a:graphic>
          <a:graphicData uri="http://schemas.openxmlformats.org/drawingml/2006/table">
            <a:tbl>
              <a:tblPr/>
              <a:tblGrid>
                <a:gridCol w="4439920"/>
                <a:gridCol w="4439920"/>
              </a:tblGrid>
              <a:tr h="599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6A6A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Source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2400" marB="1524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Kaggle - Telco Customer Churn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2400" marB="1524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6A6A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Customers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2400" marB="1524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7,043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2400" marB="1524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6A6A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Original features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2400" marB="1524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2400" marB="1524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6A6A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Target variable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2400" marB="1524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Churn (Yes / No)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2400" marB="1524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6A6A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Class split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2400" marB="1524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73.46% No / 26.54% Yes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2400" marB="1524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1"/>
            <a:ext cx="2203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Preparation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5"/>
            <a:ext cx="5175250" cy="106299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79600"/>
            <a:ext cx="480334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Whitespace removed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1880" y="2199641"/>
            <a:ext cx="4803343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Column names contained leading and trailing spaces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5"/>
            <a:ext cx="5175250" cy="106299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879600"/>
            <a:ext cx="480334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TotalCharges fixed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56680" y="2199641"/>
            <a:ext cx="4803343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Converted from text to numeric format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2896236"/>
            <a:ext cx="5175250" cy="106299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880" y="3152141"/>
            <a:ext cx="480334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missing values filled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1880" y="3472180"/>
            <a:ext cx="4803343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 customers with zero tenure, filled with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0775" y="2896236"/>
            <a:ext cx="5175250" cy="106299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6680" y="3152141"/>
            <a:ext cx="480334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 duplicates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6680" y="3472180"/>
            <a:ext cx="4803343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duplicate rows or customer IDs found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2203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Churn Drivers (1 of 2)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212217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680" y="1930400"/>
            <a:ext cx="4698695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Contract Type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22680" y="2306321"/>
            <a:ext cx="4698695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42.7%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22680" y="2976882"/>
            <a:ext cx="4698695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Month-to-month churn rate, versus 2.8% for two-year contracts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1623696"/>
            <a:ext cx="5175250" cy="212217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480" y="1930400"/>
            <a:ext cx="4698695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Tenure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07480" y="2306321"/>
            <a:ext cx="4698695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18.0 mo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07480" y="2976882"/>
            <a:ext cx="4698695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Average tenure of churned customers, versus 37.6 months for retained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2203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Churn Drivers (2 of 2)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822960" y="1579881"/>
          <a:ext cx="10556240" cy="2654300"/>
        </p:xfrm>
        <a:graphic>
          <a:graphicData uri="http://schemas.openxmlformats.org/drawingml/2006/table">
            <a:tbl>
              <a:tblPr/>
              <a:tblGrid>
                <a:gridCol w="4341495"/>
                <a:gridCol w="6214745"/>
              </a:tblGrid>
              <a:tr h="530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Driver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27000" marB="1270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Finding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27000" marB="12700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6A6A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Monthly charges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27000" marB="1270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$74.44 churned vs $61.27 retained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27000" marB="1270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6A6A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Internet service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27000" marB="1270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Fiber optic 41.9% vs DSL 19.0%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27000" marB="1270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6A6A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Payment method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27000" marB="1270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Electronic check 45.3% vs 15-19% others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27000" marB="1270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6A6A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Senior citizen status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27000" marB="1270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41.7% vs 23.6% non-seniors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27000" marB="1270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2203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3380264" cy="127635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79600"/>
            <a:ext cx="2954507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TenureGroup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1880" y="2199639"/>
            <a:ext cx="2954507" cy="469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Bucketed tenure into 4 ranges. Churn drops from 47.4% to 9.5%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05789" y="1623696"/>
            <a:ext cx="3380343" cy="127635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879600"/>
            <a:ext cx="2954589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NumServices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1694" y="2199639"/>
            <a:ext cx="2954589" cy="469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Count of add-on services. Fully bundled customers churn least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95682" y="1623696"/>
            <a:ext cx="3380343" cy="127635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879600"/>
            <a:ext cx="2954589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SpendingTier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51587" y="2199639"/>
            <a:ext cx="2954589" cy="469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Low/Medium/High charges. Churn rises from 15.9% to 34.1%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2203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OPTIMIZATION JOURNEY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417321"/>
            <a:ext cx="10883392" cy="492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5F5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on the churn class, before and after tuning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827021"/>
            <a:ext cx="1143000" cy="1308100"/>
          </a:xfrm>
          <a:prstGeom prst="roundRect">
            <a:avLst>
              <a:gd name="adj" fmla="val 4444"/>
            </a:avLst>
          </a:prstGeom>
          <a:solidFill>
            <a:srgbClr val="3A3A3A"/>
          </a:solidFill>
        </p:spPr>
      </p:sp>
      <p:sp>
        <p:nvSpPr>
          <p:cNvPr id="5" name="Text 3"/>
          <p:cNvSpPr/>
          <p:nvPr/>
        </p:nvSpPr>
        <p:spPr>
          <a:xfrm>
            <a:off x="1130062" y="4236721"/>
            <a:ext cx="559197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F5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49%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3832" y="4693921"/>
            <a:ext cx="1191657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Week 3 Baseline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62200" y="2420621"/>
            <a:ext cx="1143000" cy="1714500"/>
          </a:xfrm>
          <a:prstGeom prst="roundRect">
            <a:avLst>
              <a:gd name="adj" fmla="val 4444"/>
            </a:avLst>
          </a:prstGeom>
          <a:solidFill>
            <a:srgbClr val="6A6A6A"/>
          </a:solidFill>
        </p:spPr>
      </p:sp>
      <p:sp>
        <p:nvSpPr>
          <p:cNvPr id="8" name="Text 6"/>
          <p:cNvSpPr/>
          <p:nvPr/>
        </p:nvSpPr>
        <p:spPr>
          <a:xfrm>
            <a:off x="2679462" y="4236721"/>
            <a:ext cx="559197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F5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64%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84504" y="4693921"/>
            <a:ext cx="1149191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 Weighting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68353" y="2065021"/>
            <a:ext cx="1143000" cy="2070100"/>
          </a:xfrm>
          <a:prstGeom prst="roundRect">
            <a:avLst>
              <a:gd name="adj" fmla="val 4444"/>
            </a:avLst>
          </a:prstGeom>
          <a:solidFill>
            <a:srgbClr val="F5F5F2"/>
          </a:solidFill>
        </p:spPr>
      </p:sp>
      <p:sp>
        <p:nvSpPr>
          <p:cNvPr id="11" name="Text 9"/>
          <p:cNvSpPr/>
          <p:nvPr/>
        </p:nvSpPr>
        <p:spPr>
          <a:xfrm>
            <a:off x="4285695" y="4236721"/>
            <a:ext cx="559197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F5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77%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11600" y="4693921"/>
            <a:ext cx="130738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Tuned Final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2203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Model: Tuned Random Forest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7"/>
            <a:ext cx="1986994" cy="1022350"/>
          </a:xfrm>
          <a:prstGeom prst="roundRect">
            <a:avLst>
              <a:gd name="adj" fmla="val 962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2121"/>
            <a:ext cx="1627584" cy="391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75.8%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1080" y="2138679"/>
            <a:ext cx="1627584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61719" y="1517017"/>
            <a:ext cx="1987074" cy="1022350"/>
          </a:xfrm>
          <a:prstGeom prst="roundRect">
            <a:avLst>
              <a:gd name="adj" fmla="val 962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66824" y="1722121"/>
            <a:ext cx="1627664" cy="391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53.0%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166824" y="2138679"/>
            <a:ext cx="1627664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04368" y="1513842"/>
            <a:ext cx="1983184" cy="1028700"/>
          </a:xfrm>
          <a:prstGeom prst="roundRect">
            <a:avLst>
              <a:gd name="adj" fmla="val 9877"/>
            </a:avLst>
          </a:prstGeom>
          <a:solidFill>
            <a:srgbClr val="1A1A1A"/>
          </a:solidFill>
        </p:spPr>
      </p:sp>
      <p:sp>
        <p:nvSpPr>
          <p:cNvPr id="10" name="Text 8"/>
          <p:cNvSpPr/>
          <p:nvPr/>
        </p:nvSpPr>
        <p:spPr>
          <a:xfrm>
            <a:off x="5307568" y="1717042"/>
            <a:ext cx="1627584" cy="391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77.3%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07568" y="2133600"/>
            <a:ext cx="1627584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43128" y="1517017"/>
            <a:ext cx="1987074" cy="1022350"/>
          </a:xfrm>
          <a:prstGeom prst="roundRect">
            <a:avLst>
              <a:gd name="adj" fmla="val 962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48233" y="1722121"/>
            <a:ext cx="1627664" cy="391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0.629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48233" y="2138679"/>
            <a:ext cx="1627664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88952" y="1517017"/>
            <a:ext cx="1987074" cy="1022350"/>
          </a:xfrm>
          <a:prstGeom prst="roundRect">
            <a:avLst>
              <a:gd name="adj" fmla="val 962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4056" y="1722121"/>
            <a:ext cx="1627664" cy="391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0.842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594056" y="2138679"/>
            <a:ext cx="1627664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ROC-AUC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822960" y="2806702"/>
          <a:ext cx="5704840" cy="1181100"/>
        </p:xfrm>
        <a:graphic>
          <a:graphicData uri="http://schemas.openxmlformats.org/drawingml/2006/table">
            <a:tbl>
              <a:tblPr/>
              <a:tblGrid>
                <a:gridCol w="1901613"/>
                <a:gridCol w="1901613"/>
                <a:gridCol w="1901613"/>
              </a:tblGrid>
              <a:tr h="3937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Predicted: No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Predicted: Yes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Actual: No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779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256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Actual: Yes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85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289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12800" y="6238242"/>
            <a:ext cx="2203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Predictors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84964"/>
            <a:ext cx="222377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tenure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24200" y="1569721"/>
            <a:ext cx="4064000" cy="279400"/>
          </a:xfrm>
          <a:prstGeom prst="roundRect">
            <a:avLst>
              <a:gd name="adj" fmla="val 13636"/>
            </a:avLst>
          </a:prstGeom>
          <a:solidFill>
            <a:srgbClr val="1A1A1A"/>
          </a:solidFill>
        </p:spPr>
      </p:sp>
      <p:sp>
        <p:nvSpPr>
          <p:cNvPr id="5" name="Text 3"/>
          <p:cNvSpPr/>
          <p:nvPr/>
        </p:nvSpPr>
        <p:spPr>
          <a:xfrm>
            <a:off x="7340600" y="1584964"/>
            <a:ext cx="55499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16.0%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042164"/>
            <a:ext cx="222377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TotalCharges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24200" y="2026921"/>
            <a:ext cx="2921000" cy="279400"/>
          </a:xfrm>
          <a:prstGeom prst="roundRect">
            <a:avLst>
              <a:gd name="adj" fmla="val 13636"/>
            </a:avLst>
          </a:prstGeom>
          <a:solidFill>
            <a:srgbClr val="3A3A3A"/>
          </a:solidFill>
        </p:spPr>
      </p:sp>
      <p:sp>
        <p:nvSpPr>
          <p:cNvPr id="8" name="Text 6"/>
          <p:cNvSpPr/>
          <p:nvPr/>
        </p:nvSpPr>
        <p:spPr>
          <a:xfrm>
            <a:off x="6197600" y="2042164"/>
            <a:ext cx="545147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11.5%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2499364"/>
            <a:ext cx="222377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Contract: Two year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24200" y="2484121"/>
            <a:ext cx="2616200" cy="279400"/>
          </a:xfrm>
          <a:prstGeom prst="roundRect">
            <a:avLst>
              <a:gd name="adj" fmla="val 13636"/>
            </a:avLst>
          </a:prstGeom>
          <a:solidFill>
            <a:srgbClr val="4D4D4D"/>
          </a:solidFill>
        </p:spPr>
      </p:sp>
      <p:sp>
        <p:nvSpPr>
          <p:cNvPr id="11" name="Text 9"/>
          <p:cNvSpPr/>
          <p:nvPr/>
        </p:nvSpPr>
        <p:spPr>
          <a:xfrm>
            <a:off x="5892800" y="2499364"/>
            <a:ext cx="55499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10.3%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2956564"/>
            <a:ext cx="222377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MonthlyCharges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24200" y="2941321"/>
            <a:ext cx="2336800" cy="279400"/>
          </a:xfrm>
          <a:prstGeom prst="roundRect">
            <a:avLst>
              <a:gd name="adj" fmla="val 13636"/>
            </a:avLst>
          </a:prstGeom>
          <a:solidFill>
            <a:srgbClr val="6A6A6A"/>
          </a:solidFill>
        </p:spPr>
      </p:sp>
      <p:sp>
        <p:nvSpPr>
          <p:cNvPr id="14" name="Text 12"/>
          <p:cNvSpPr/>
          <p:nvPr/>
        </p:nvSpPr>
        <p:spPr>
          <a:xfrm>
            <a:off x="5613400" y="2956564"/>
            <a:ext cx="456089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9.2%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3413764"/>
            <a:ext cx="222377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Internet: Fiber optic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24200" y="3398521"/>
            <a:ext cx="1752600" cy="279400"/>
          </a:xfrm>
          <a:prstGeom prst="roundRect">
            <a:avLst>
              <a:gd name="adj" fmla="val 13636"/>
            </a:avLst>
          </a:prstGeom>
          <a:solidFill>
            <a:srgbClr val="8A8A8A"/>
          </a:solidFill>
        </p:spPr>
      </p:sp>
      <p:sp>
        <p:nvSpPr>
          <p:cNvPr id="17" name="Text 15"/>
          <p:cNvSpPr/>
          <p:nvPr/>
        </p:nvSpPr>
        <p:spPr>
          <a:xfrm>
            <a:off x="5029200" y="3413764"/>
            <a:ext cx="456089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6.9%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3870964"/>
            <a:ext cx="222377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Payment: Electronic check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24200" y="3855721"/>
            <a:ext cx="1295400" cy="279400"/>
          </a:xfrm>
          <a:prstGeom prst="roundRect">
            <a:avLst>
              <a:gd name="adj" fmla="val 13636"/>
            </a:avLst>
          </a:prstGeom>
          <a:solidFill>
            <a:srgbClr val="A6A6A6"/>
          </a:solidFill>
        </p:spPr>
      </p:sp>
      <p:sp>
        <p:nvSpPr>
          <p:cNvPr id="20" name="Text 18"/>
          <p:cNvSpPr/>
          <p:nvPr/>
        </p:nvSpPr>
        <p:spPr>
          <a:xfrm>
            <a:off x="4572000" y="3870964"/>
            <a:ext cx="456089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5.1%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2"/>
            <a:ext cx="2203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2"/>
            <a:ext cx="53632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Incentivize longer contracts over month-to-month plans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172200" y="1513842"/>
            <a:ext cx="53632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Shift electronic check users to automatic payments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1915164"/>
            <a:ext cx="53632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Build a first-year onboarding and retention program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72200" y="1915164"/>
            <a:ext cx="53632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Lower the model's decision threshold for outreach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316479"/>
            <a:ext cx="53632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Investigate fiber optic pricing and service quality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2316479"/>
            <a:ext cx="53632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Prioritize senior citizens in retention campaigns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42"/>
            <a:ext cx="20907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95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5F5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1635764"/>
            <a:ext cx="10883392" cy="309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C9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49% to 77% recall, a model that catches 3 in 4 at-risk customers before they leave.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58318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GLORIA BOATENG| NexAfrica Machine Learning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2409</Words>
  <Application>WPS Presentation</Application>
  <PresentationFormat>On-screen Show (16:9)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- Final Presentation</dc:title>
  <dc:creator>PptxGenJS</dc:creator>
  <dc:subject>PptxGenJS Presentation</dc:subject>
  <cp:lastModifiedBy>gloria boateng</cp:lastModifiedBy>
  <cp:revision>2</cp:revision>
  <dcterms:created xsi:type="dcterms:W3CDTF">2026-09-27T10:03:00Z</dcterms:created>
  <dcterms:modified xsi:type="dcterms:W3CDTF">2026-09-27T10:16:46Z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F074F12E64B94BEB9DE29F616BBE521B_12</vt:lpwstr>
  </property>
  <property fmtid="{D5CDD505-2E9C-101B-9397-08002B2CF9AE}" pid="3" name="KSOProductBuildVer">
    <vt:lpwstr>1033-12.1.0.28485</vt:lpwstr>
  </property>
</Properties>
</file>